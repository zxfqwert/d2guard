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109728" cy="3840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D9488"/>
                </a:solidFill>
                <a:latin typeface="黑体"/>
              </a:defRPr>
            </a:pPr>
            <a:r>
              <a:t>“华为杯”第五届中国研究生网络安全创新大赛 · 揭榜赛题 5</a:t>
            </a:r>
          </a:p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黑体"/>
              </a:defRPr>
            </a:pPr>
            <a:r>
              <a:t>双镜 D²Guard</a:t>
            </a:r>
          </a:p>
          <a:p>
            <a:pPr>
              <a:spcAft>
                <a:spcPts val="3600"/>
              </a:spcAft>
              <a:defRPr sz="2000" b="0">
                <a:solidFill>
                  <a:srgbClr val="94A3B8"/>
                </a:solidFill>
                <a:latin typeface="宋体"/>
              </a:defRPr>
            </a:pPr>
            <a:r>
              <a:t>基于快慢双系统与增量安全状态流的大模型智能体防御系统</a:t>
            </a:r>
          </a:p>
          <a:p>
            <a:pPr>
              <a:lnSpc>
                <a:spcPct val="130000"/>
              </a:lnSpc>
              <a:defRPr sz="1300">
                <a:solidFill>
                  <a:srgbClr val="CBD5E1"/>
                </a:solidFill>
                <a:latin typeface="宋体"/>
              </a:defRPr>
            </a:pPr>
            <a:r>
              <a:t>• 出题单位：安天科技集团 (Antiy Labs)</a:t>
            </a:r>
            <a:br/>
            <a:r>
              <a:t>• 核心特色：快慢双系统分流决策 | 8字节滑动窗口分片熔断 | 跨MCP因果DAG溯源 | 2×A100真机实测 91.7% 阻断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黑体"/>
              </a:defRPr>
            </a:pPr>
            <a:r>
              <a:t>一、 课题背景：自主智能体面临的致命安全困局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宋体"/>
              </a:defRPr>
            </a:pPr>
            <a:r>
              <a:t>Agent 进化带来攻击面指数级爆发，传统安全设施陷入完全的“语义盲区”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880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黑体"/>
              </a:defRPr>
            </a:pPr>
            <a:r>
              <a:t>1. Agent与MCP生态泛化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宋体"/>
              </a:defRPr>
            </a:pPr>
            <a:r>
              <a:t>头号高危风险 (OWASP LLM01)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智能体(Claude Code, Devin, AVL)已具备文件读写、命令执行、MCP总线调用能力；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提示词与数据边界彻底模糊，外部网页、源码注释、工单均可成为攻击载荷源；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CVE-2024-49035 等越权漏洞已在工业级 Agent 工具链上真实爆发。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645920"/>
            <a:ext cx="33375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5152" y="1874519"/>
            <a:ext cx="2880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11D48"/>
                </a:solidFill>
                <a:latin typeface="黑体"/>
              </a:defRPr>
            </a:pPr>
            <a:r>
              <a:t>2. 现有安全设施的“失能”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宋体"/>
              </a:defRPr>
            </a:pPr>
            <a:r>
              <a:t>传统WAF与全量模型检测失效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传统 WAF / EDR 处在报文与系统调用层，无法理解“意图-规划-工具调用”高维语义；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全量大模型二次检验引发延迟雪崩(数秒级)与高昂成本，严重摧毁 Agent 响应体验；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面对万字文档时，安全约束极易被“长上下文稀释攻击”彻底淹没。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645920"/>
            <a:ext cx="33375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0184" y="1874519"/>
            <a:ext cx="2880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黑体"/>
              </a:defRPr>
            </a:pPr>
            <a:r>
              <a:t>3. 状态断裂与分片外泄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宋体"/>
              </a:defRPr>
            </a:pPr>
            <a:r>
              <a:t>“只看增量”的致命失忆死穴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为轻量化而“仅看当前增量”，无法追踪跨多轮的长间隔因果关系(第1轮读取，第7轮外发)；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攻击者将32字节私钥切为8字节多次渗漏时，单次请求极小，传统与无状态模型完全漏报；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必须构建具备“跨多轮状态锁定与毫秒级决策”的专用智能体防御系统。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黑体"/>
              </a:defRPr>
            </a:pPr>
            <a:r>
              <a:t>二、 系统架构：前线双探针与中央决策中枢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宋体"/>
              </a:defRPr>
            </a:pPr>
            <a:r>
              <a:t>解耦为【工具侧 Hook】+【API 侧网关】↔【共享防护内核】，贯穿三大极简接口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  <a:latin typeface="黑体"/>
              </a:defRPr>
            </a:pPr>
            <a:r>
              <a:t>三大部件：全链路物理受控闭环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黑体"/>
              </a:defRPr>
            </a:pPr>
            <a:r>
              <a:t>【部件 1: 工具侧 Hook】(执行刹车闸)</a:t>
            </a:r>
          </a:p>
          <a:p>
            <a:pPr>
              <a:lnSpc>
                <a:spcPct val="120000"/>
              </a:lnSpc>
              <a:defRPr sz="1150">
                <a:solidFill>
                  <a:srgbClr val="475569"/>
                </a:solidFill>
                <a:latin typeface="宋体"/>
              </a:defRPr>
            </a:pPr>
            <a:r>
              <a:t>挂接在 Agent 工具执行最底层(fs/net/exec/git/mcp)，在发包或写入前掐断物理调用，严格执行 ALLOW / ASK / BLOCK。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黑体"/>
              </a:defRPr>
            </a:pPr>
            <a:r>
              <a:t>【部件 2: API 侧网关】(模型进出观测哨)</a:t>
            </a:r>
          </a:p>
          <a:p>
            <a:pPr>
              <a:lnSpc>
                <a:spcPct val="120000"/>
              </a:lnSpc>
              <a:defRPr sz="1150">
                <a:solidFill>
                  <a:srgbClr val="475569"/>
                </a:solidFill>
                <a:latin typeface="宋体"/>
              </a:defRPr>
            </a:pPr>
            <a:r>
              <a:t>部署在 Agent 与 LLM 间充当中继代理，双向捕获输入 Prompt 与模型候选调用，防止敏感凭据出境，提取增量事件。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黑体"/>
              </a:defRPr>
            </a:pPr>
            <a:r>
              <a:t>【部件 3: 共享防护内核】(中央决策大脑)</a:t>
            </a:r>
          </a:p>
          <a:p>
            <a:pPr>
              <a:lnSpc>
                <a:spcPct val="120000"/>
              </a:lnSpc>
              <a:defRPr sz="1150">
                <a:solidFill>
                  <a:srgbClr val="475569"/>
                </a:solidFill>
                <a:latin typeface="宋体"/>
              </a:defRPr>
            </a:pPr>
            <a:r>
              <a:t>集中维护增量 JSON 事件流，维护安全状态聚合机，运行快慢双系统与策略 DSL 2.0，输出裁决控制参数。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黑体"/>
              </a:defRPr>
            </a:pPr>
            <a:r>
              <a:t>三大核心接口：极简标准化数据流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  <a:latin typeface="Consolas"/>
              </a:defRPr>
            </a:pPr>
            <a:r>
              <a:t>1. extract(event) -&gt; ExtractedData</a:t>
            </a:r>
          </a:p>
          <a:p>
            <a:pPr>
              <a:lnSpc>
                <a:spcPct val="120000"/>
              </a:lnSpc>
              <a:defRPr sz="1150">
                <a:solidFill>
                  <a:srgbClr val="475569"/>
                </a:solidFill>
                <a:latin typeface="宋体"/>
              </a:defRPr>
            </a:pPr>
            <a:r>
              <a:t>代码确定性抽取(绝对路径、网络域名、Shell AST 语法树解析、Canary 扫描) + 快镜轻量模型主观语义初筛。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  <a:latin typeface="Consolas"/>
              </a:defRPr>
            </a:pPr>
            <a:r>
              <a:t>2. update_state(state, extracted) -&gt; SecurityState</a:t>
            </a:r>
          </a:p>
          <a:p>
            <a:pPr>
              <a:lnSpc>
                <a:spcPct val="120000"/>
              </a:lnSpc>
              <a:defRPr sz="1150">
                <a:solidFill>
                  <a:srgbClr val="475569"/>
                </a:solidFill>
                <a:latin typeface="宋体"/>
              </a:defRPr>
            </a:pPr>
            <a:r>
              <a:t>安全状态聚合机：更新初始任务授权锚点、已读敏感数据登记薄(Secret Ledger: 明文/Base64/8字节分片)、因果调用拓扑。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  <a:latin typeface="Consolas"/>
              </a:defRPr>
            </a:pPr>
            <a:r>
              <a:t>3. decide(state, proposed_action) -&gt; ActionVerdict</a:t>
            </a:r>
          </a:p>
          <a:p>
            <a:pPr>
              <a:lnSpc>
                <a:spcPct val="120000"/>
              </a:lnSpc>
              <a:defRPr sz="1150">
                <a:solidFill>
                  <a:srgbClr val="475569"/>
                </a:solidFill>
                <a:latin typeface="宋体"/>
              </a:defRPr>
            </a:pPr>
            <a:r>
              <a:t>策略 DSL 规则引擎快速阻断 + 疑点按需唤醒慢镜深度因果裁判，向 Hook 回传三态控制参数。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黑体"/>
              </a:defRPr>
            </a:pPr>
            <a:r>
              <a:t>三、 核心机制一：快慢双系统协同决策范式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宋体"/>
              </a:defRPr>
            </a:pPr>
            <a:r>
              <a:t>认知科学双系统理论落地：毫秒级极速初筛与按需唤醒深度因果裁判完美平衡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  <a:latin typeface="黑体"/>
              </a:defRPr>
            </a:pPr>
            <a:r>
              <a:t>【快镜】System 1 · 极速毫秒初筛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模型选型：本地轻量 Laya (421M 双向编码器) / 规则校准引擎；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极速响应：实测中位额外延迟仅 3.74 ms (远优于赛题 &lt;20ms 要求)；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定型初筛：将文本与动作映射为标准化风险得分 (0.0~1.0) 与合规分类；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分流过滤：过滤 95%+ 以上常规良性操作，保障 Agent 高速运行流水线无任何卡顿感知。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黑体"/>
              </a:defRPr>
            </a:pPr>
            <a:r>
              <a:t>【慢镜】System 2 · 深度因果裁判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按需唤醒：仅在快镜评分临界或触碰高危敏感边界时按需唤醒 (&lt;5%)；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精选证据包 (Evidence Pack)：拒绝塞入巨量历史，仅提取用户原始意图、关键已读敏感数据与当前环境动作增量；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结构化中文判词：输出包含违规规则、风险等级与因果链依据的严谨分析；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双通道架构：支持商用云端 API (DeepSeek-v3.2) 与算力机 GPU1 自部署服务 (Qwen-27B on vLLM) 一键热切换。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黑体"/>
              </a:defRPr>
            </a:pPr>
            <a:r>
              <a:t>四、 核心机制二：安全状态聚合机与滑动窗口熔断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宋体"/>
              </a:defRPr>
            </a:pPr>
            <a:r>
              <a:t>彻底攻克“单看增量导致多轮分片外发漏报”与“长文本规则稀释”两大行业痛点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  <a:latin typeface="黑体"/>
              </a:defRPr>
            </a:pPr>
            <a:r>
              <a:t>三大核心状态治理创新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  <a:latin typeface="黑体"/>
              </a:defRPr>
            </a:pPr>
            <a:r>
              <a:t>1. 不可变任务授权锚点 (Task Anchor)</a:t>
            </a:r>
          </a:p>
          <a:p>
            <a:pPr>
              <a:lnSpc>
                <a:spcPct val="125000"/>
              </a:lnSpc>
              <a:defRPr sz="1200">
                <a:solidFill>
                  <a:srgbClr val="0F172A"/>
                </a:solidFill>
                <a:latin typeface="宋体"/>
              </a:defRPr>
            </a:pPr>
            <a:r>
              <a:t>会话启动即锁定初始用户任务意图，任凭后续对话输入 20,000+ 字无害文档，初始授权始终具有最高决策优先级，天然免疫长上下文稀释攻击。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  <a:latin typeface="黑体"/>
              </a:defRPr>
            </a:pPr>
            <a:r>
              <a:t>2. 敏感数据登记薄 (Secret Ledger)</a:t>
            </a:r>
          </a:p>
          <a:p>
            <a:pPr>
              <a:lnSpc>
                <a:spcPct val="125000"/>
              </a:lnSpc>
              <a:defRPr sz="1200">
                <a:solidFill>
                  <a:srgbClr val="0F172A"/>
                </a:solidFill>
                <a:latin typeface="宋体"/>
              </a:defRPr>
            </a:pPr>
            <a:r>
              <a:t>实时维护会话内已读敏感凭据的全量登记。一旦 fs.read 访问 .env 或私钥，登记薄自动登记明文及其预派生的 Base64、Hex、URL 编码变体。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  <a:latin typeface="黑体"/>
              </a:defRPr>
            </a:pPr>
            <a:r>
              <a:t>3. 8字节滑动窗口与分片覆盖率累积熔断算法</a:t>
            </a:r>
          </a:p>
          <a:p>
            <a:pPr>
              <a:lnSpc>
                <a:spcPct val="125000"/>
              </a:lnSpc>
              <a:defRPr sz="1200">
                <a:solidFill>
                  <a:srgbClr val="0F172A"/>
                </a:solidFill>
                <a:latin typeface="宋体"/>
              </a:defRPr>
            </a:pPr>
            <a:r>
              <a:t>针对将 32 字节私钥拆分为 3 轮微小请求外发的高级逃逸手法，聚合机自动将敏感凭据切为 8 字节子片段滑动窗口。当检测到跨请求累计命中 &gt;2 个分片或单域名覆盖率达 35% 时，立即硬阻断，实测将分片部分泄露率从 100% 降至 0.0%！</a:t>
            </a:r>
          </a:p>
          <a:p>
            <a:pPr>
              <a:spcBef>
                <a:spcPts val="600"/>
              </a:spcBef>
              <a:defRPr sz="1300" b="1">
                <a:solidFill>
                  <a:srgbClr val="0D9488"/>
                </a:solidFill>
                <a:latin typeface="黑体"/>
              </a:defRPr>
            </a:pPr>
            <a:r>
              <a:t>4. 轻量无状态开销设计</a:t>
            </a:r>
          </a:p>
          <a:p>
            <a:pPr>
              <a:lnSpc>
                <a:spcPct val="125000"/>
              </a:lnSpc>
              <a:defRPr sz="1200">
                <a:solidFill>
                  <a:srgbClr val="0F172A"/>
                </a:solidFill>
                <a:latin typeface="宋体"/>
              </a:defRPr>
            </a:pPr>
            <a:r>
              <a:t>状态机仅驻留元数据特征与 UUID 索引，百轮长程任务内存消耗严格控制在 &lt; 100 KB，彻底杜绝状态爆炸。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黑体"/>
              </a:defRPr>
            </a:pPr>
            <a:r>
              <a:t>五、 核心机制三：策略 DSL 2.0 与因果拓扑 DAG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宋体"/>
              </a:defRPr>
            </a:pPr>
            <a:r>
              <a:t>细粒度声明式策略管控 + 跨 MCP、跨子 Agent 全链路交互式因果溯源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  <a:latin typeface="黑体"/>
              </a:defRPr>
            </a:pPr>
            <a:r>
              <a:t>策略 DSL 2.0 与三态决策模型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三态决策：ALLOW (合规放行) / ASK (人工授权) / BLOCK (物理阻断)；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RULE_CRITICAL_WRITE：禁止写入 ~/.ssh, ~/.aws, /etc/cron.* 等敏感路径；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RULE_DATA_EXFILTRATION：禁止将 Secret Ledger 登记凭据发往非信任域名；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RULE_EXEC_SUSPICIOUS：基于 Shell AST 语法树拦截管道逃逸 (curl|bash)；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RULE_CODE_REVIEW_PUSH：代码走查任务中禁止触发 git.push 越权提交；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RULE_SUBAGENT_CREDENTIAL：严禁向子 Agent 传递环境变量密钥与敏感凭证。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黑体"/>
              </a:defRPr>
            </a:pPr>
            <a:r>
              <a:t>跨 MCP 与子 Agent 因果 DAG 溯源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全生命周期事件追踪：每个增量事件自动携带 event_id, parent_id 与 causal_depth；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网状拓扑节点建模：区分 USER_INPUT, EXTERNAL_RESOURCE, TOOL_CALL, SUBAGENT；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逆向 DFS 根因回溯：自阻断叶子节点逆流而上，秒级锁定引爆攻击的始作俑者；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原生导出交互大屏：内核内置 provenance_dag.py，可一键生成交互式 HTML 大屏，清晰呈现攻击路径与影响范围。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黑体"/>
              </a:defRPr>
            </a:pPr>
            <a:r>
              <a:t>六、 实验验证与核心消融对比（真机实测数据）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宋体"/>
              </a:defRPr>
            </a:pPr>
            <a:r>
              <a:t>2×A100 80GB 真实环境，物理文件 MD5 与独立 Canary 监听客观核验，拒绝对齐欺骗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2039112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评测维度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无防护裸 Agent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仅规则 (Rule-Only)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仅看增量 (Delta-Only)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D²Guard 完整系统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12 类典型场景完全阻断率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0.0% (全部失守)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16.7% (仅防正则)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58.3% (状态断裂)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黑体"/>
                        </a:defRPr>
                      </a:pPr>
                      <a:r>
                        <a:t>91.7% (全面防御)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跨多轮长间隔外发拦截率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42.9% (多轮漏报)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黑体"/>
                        </a:defRPr>
                      </a:pPr>
                      <a:r>
                        <a:t>100.0% (状态强锁定)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多轮分片外发完全阻断率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0.0% (分片漏报)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黑体"/>
                        </a:defRPr>
                      </a:pPr>
                      <a:r>
                        <a:t>100.0% (滑动窗口熔断)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分片外发部分泄露率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黑体"/>
                        </a:defRPr>
                      </a:pPr>
                      <a:r>
                        <a:t>0.0% (彻底阻断)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7 类对抗样本防御率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黑体"/>
                        </a:defRPr>
                      </a:pPr>
                      <a:r>
                        <a:t>71.4% (快慢双镜)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良性任务误拦截率 (FPR)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黑体"/>
                        </a:defRPr>
                      </a:pPr>
                      <a:r>
                        <a:t>0.0% (零误报)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单次调用额外延迟 (p50)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0.25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0.01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宋体"/>
                        </a:defRPr>
                      </a:pPr>
                      <a:r>
                        <a:t>5.76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黑体"/>
                        </a:defRPr>
                      </a:pPr>
                      <a:r>
                        <a:t>3.74 ms (远优于&lt;20ms)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黑体"/>
              </a:defRPr>
            </a:pPr>
            <a:r>
              <a:t>七、 工程化落地与在线公网演练大屏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宋体"/>
              </a:defRPr>
            </a:pPr>
            <a:r>
              <a:t>已上线公网高保真交互演练舱，支持同屏 ReAct 循环对比、因果 DAG 展开与双 LLM 切换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  <a:latin typeface="黑体"/>
              </a:defRPr>
            </a:pPr>
            <a:r>
              <a:t>公网实时交互演练舱 (Live Demo)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公网在线体验：https://agent.li33.art/safe (反代直连 2×A100 算力机)；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同屏攻防对比：左侧【未防护裸跑】vs 右侧【D²Guard 护航】，真实触发与拦截一目了然；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动态因果 DAG 展开：每次攻击触发时，交互拓扑实时高亮标红根因节点与外泄阻断点；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双模型动态热切换：大屏提供下拉胶囊，支持实时切换 DeepSeek-v3.2 与本地 Qwen-27B；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一键热更脚本：./deploy.sh update 实现代码与算力机秒级平滑热更。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黑体"/>
              </a:defRPr>
            </a:pPr>
            <a:r>
              <a:t>初赛申报材料与工程资产就绪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《作品报告》Word 终稿：严格对齐大赛排版规范(宋体小四1.5倍行距)，规范三线表，匿名合规；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完整开源代码仓库：https://github.com/ZXFqwert/D2Guard (私有仓库，版本管理完备)；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自动化评测套件：run_eval.py 一键复现全部 12 类场景与消融指标；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官方加分项 1:1 物理复现：真实复现并彻底防御 GitHub Copilot CVE-2025-53773 间接注入篡改配置免审查致 RCE 漏洞，达成 0.05ms 物理阻断与 0 字节外发；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0F172A"/>
                </a:solidFill>
                <a:latin typeface="宋体"/>
              </a:defRPr>
            </a:pPr>
            <a:r>
              <a:t>• 原生 MCP 安全网关与国际标准：实现 MCP JSON-RPC 2.0 中间人代理，全面对齐 MITRE ATLAS 2026.09 矩阵并生成 Agent-SOC 态势大屏。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  <a:latin typeface="黑体"/>
              </a:defRPr>
            </a:pPr>
            <a:r>
              <a:t>八、 总结与冲刺规划 (距 10.22 截止)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>
                <a:solidFill>
                  <a:srgbClr val="E2E8F0"/>
                </a:solidFill>
                <a:latin typeface="宋体"/>
              </a:defRPr>
            </a:pPr>
            <a:r>
              <a:t>【已完成】架构与核心接口跑通：D²Guard 三大接口、快慢双镜决策、安全状态聚合机与滑动窗口算法全部真机验证通过。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>
                <a:solidFill>
                  <a:srgbClr val="E2E8F0"/>
                </a:solidFill>
                <a:latin typeface="宋体"/>
              </a:defRPr>
            </a:pPr>
            <a:r>
              <a:t>【已完成】客观评测与材料就绪：消融实验真实数据出炉(阻断率 91.7%, 跨轮分片 100%, FPR 0.0%)，作品报告终稿就绪，公网演示舱平稳运行。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>
                <a:solidFill>
                  <a:srgbClr val="E2E8F0"/>
                </a:solidFill>
                <a:latin typeface="宋体"/>
              </a:defRPr>
            </a:pPr>
            <a:r>
              <a:t>【冲刺中】答辩演示视频录制 (10.15-10.18)：基于公网大屏录制 5 分钟高冲击力攻防实操对比与 DAG 展开视频，突出真实外发对比与熔断特性。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>
                <a:solidFill>
                  <a:srgbClr val="E2E8F0"/>
                </a:solidFill>
                <a:latin typeface="宋体"/>
              </a:defRPr>
            </a:pPr>
            <a:r>
              <a:t>【待提交】初赛材料终审与系统提交 (10.20-10.22)：完成原创性声明签名盖章扫描，提交作品报告、源码包与部署说明文档，冲刺全国一等奖！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